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0">
                <a:solidFill>
                  <a:srgbClr val="EEF0F5"/>
                </a:solidFill>
                <a:latin typeface="Calibri"/>
              </a:rPr>
              <a:t>Automated </a:t>
            </a:r>
            <a:r>
              <a:rPr sz="2600" b="1">
                <a:solidFill>
                  <a:srgbClr val="D4A96A"/>
                </a:solidFill>
                <a:latin typeface="Calibri"/>
              </a:rPr>
              <a:t>ICD Coding</a:t>
            </a:r>
          </a:p>
          <a:p>
            <a:pPr>
              <a:spcAft>
                <a:spcPts val="200"/>
              </a:spcAft>
            </a:pPr>
            <a:r>
              <a:rPr sz="2600" b="0">
                <a:solidFill>
                  <a:srgbClr val="EEF0F5"/>
                </a:solidFill>
                <a:latin typeface="Calibri"/>
              </a:rPr>
              <a:t>from Spanish Clinical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9281160" y="164592"/>
            <a:ext cx="2377440" cy="246888"/>
          </a:xfrm>
          <a:prstGeom prst="rect">
            <a:avLst/>
          </a:prstGeom>
          <a:solidFill>
            <a:srgbClr val="282216"/>
          </a:solidFill>
          <a:ln w="6350">
            <a:solidFill>
              <a:srgbClr val="5A4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45168" y="192024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D4A96A"/>
                </a:solidFill>
                <a:latin typeface="Courier New"/>
              </a:rPr>
              <a:t>NLP PROJECT  ·  APRIL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4754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478"/>
                </a:solidFill>
                <a:latin typeface="Courier New"/>
              </a:rPr>
              <a:t>01 /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11185855" cy="9144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B6478"/>
                </a:solidFill>
                <a:latin typeface="Calibri"/>
              </a:rPr>
              <a:t>TASK DEFINITION &amp; KEY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71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B6478"/>
                </a:solidFill>
                <a:latin typeface="Calibri"/>
              </a:rPr>
              <a:t>DATASET STATISTICS (CodiEsp)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91056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96A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EEF0F5"/>
                </a:solidFill>
                <a:latin typeface="Calibri"/>
              </a:rPr>
              <a:t>Multi-label classification: </a:t>
            </a:r>
            <a:r>
              <a:rPr sz="950" b="0">
                <a:solidFill>
                  <a:srgbClr val="9AA3B8"/>
                </a:solidFill>
                <a:latin typeface="Calibri"/>
              </a:rPr>
              <a:t>assign one or more ICD-10 codes to a short, unstructured physician note in Spanish or Catalan.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22576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96A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22576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EEF0F5"/>
                </a:solidFill>
                <a:latin typeface="Calibri"/>
              </a:rPr>
              <a:t>Mixed language &amp; abbreviations: </a:t>
            </a:r>
            <a:r>
              <a:rPr sz="950" b="0">
                <a:solidFill>
                  <a:srgbClr val="9AA3B8"/>
                </a:solidFill>
                <a:latin typeface="Calibri"/>
              </a:rPr>
              <a:t>clinical phrases mix Spanish and Catalan and are full of medical abbreviations — HTA, ITU, IRC. No standard tokeniser handles this reliably.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54096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96A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54096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EEF0F5"/>
                </a:solidFill>
                <a:latin typeface="Calibri"/>
              </a:rPr>
              <a:t>Large, imbalanced label space: </a:t>
            </a:r>
            <a:r>
              <a:rPr sz="950" b="0">
                <a:solidFill>
                  <a:srgbClr val="9AA3B8"/>
                </a:solidFill>
                <a:latin typeface="Calibri"/>
              </a:rPr>
              <a:t>4,059 unique codes. 47 % appear only once — a severe long-tail where most classifiers fail silently on rare codes.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85615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96A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85615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EEF0F5"/>
                </a:solidFill>
                <a:latin typeface="Calibri"/>
              </a:rPr>
              <a:t>Multi-label mapping: </a:t>
            </a:r>
            <a:r>
              <a:rPr sz="950" b="0">
                <a:solidFill>
                  <a:srgbClr val="9AA3B8"/>
                </a:solidFill>
                <a:latin typeface="Calibri"/>
              </a:rPr>
              <a:t>one literal can correspond to up to 14 ICD-10 codes simultaneously, requiring a One-vs-Rest strategy.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591056"/>
            <a:ext cx="2697480" cy="768096"/>
          </a:xfrm>
          <a:prstGeom prst="rect">
            <a:avLst/>
          </a:prstGeom>
          <a:solidFill>
            <a:srgbClr val="1E2535"/>
          </a:solidFill>
          <a:ln w="635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0" y="166420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EF0F5"/>
                </a:solidFill>
                <a:latin typeface="Calibri"/>
              </a:rPr>
              <a:t>13,700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66543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478"/>
                </a:solidFill>
                <a:latin typeface="Calibri"/>
              </a:rPr>
              <a:t>Training samples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591056"/>
            <a:ext cx="2697480" cy="768096"/>
          </a:xfrm>
          <a:prstGeom prst="rect">
            <a:avLst/>
          </a:prstGeom>
          <a:solidFill>
            <a:srgbClr val="242C40"/>
          </a:solidFill>
          <a:ln w="6350">
            <a:solidFill>
              <a:srgbClr val="5A4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26296" y="166420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96A"/>
                </a:solidFill>
                <a:latin typeface="Calibri"/>
              </a:rPr>
              <a:t>2.2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066543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478"/>
                </a:solidFill>
                <a:latin typeface="Calibri"/>
              </a:rPr>
              <a:t>Avg words per literal  (median 2 words)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487168"/>
            <a:ext cx="2697480" cy="768096"/>
          </a:xfrm>
          <a:prstGeom prst="rect">
            <a:avLst/>
          </a:prstGeom>
          <a:solidFill>
            <a:srgbClr val="242C40"/>
          </a:solidFill>
          <a:ln w="6350">
            <a:solidFill>
              <a:srgbClr val="5A4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96A"/>
                </a:solidFill>
                <a:latin typeface="Calibri"/>
              </a:rPr>
              <a:t>47 %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626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478"/>
                </a:solidFill>
                <a:latin typeface="Calibri"/>
              </a:rPr>
              <a:t>Codes appearing only once  (long-tail)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9136" y="2487168"/>
            <a:ext cx="2697480" cy="768096"/>
          </a:xfrm>
          <a:prstGeom prst="rect">
            <a:avLst/>
          </a:prstGeom>
          <a:solidFill>
            <a:srgbClr val="1E2535"/>
          </a:solidFill>
          <a:ln w="635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226296" y="25603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EF0F5"/>
                </a:solidFill>
                <a:latin typeface="Calibri"/>
              </a:rPr>
              <a:t>14.4 %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29626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478"/>
                </a:solidFill>
                <a:latin typeface="Calibri"/>
              </a:rPr>
              <a:t>Literals mapped to multiple codes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12463"/>
            <a:ext cx="5532120" cy="804672"/>
          </a:xfrm>
          <a:prstGeom prst="rect">
            <a:avLst/>
          </a:prstGeom>
          <a:solidFill>
            <a:srgbClr val="1E2535"/>
          </a:solidFill>
          <a:ln w="635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63640" y="3712463"/>
            <a:ext cx="41148" cy="804672"/>
          </a:xfrm>
          <a:prstGeom prst="rect">
            <a:avLst/>
          </a:prstGeom>
          <a:solidFill>
            <a:srgbClr val="D4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5" y="3803903"/>
            <a:ext cx="5330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EF0F5"/>
                </a:solidFill>
                <a:latin typeface="Calibri"/>
              </a:rPr>
              <a:t>Why not deep learning?  </a:t>
            </a:r>
            <a:r>
              <a:rPr sz="900" b="0">
                <a:solidFill>
                  <a:srgbClr val="9AA3B8"/>
                </a:solidFill>
                <a:latin typeface="Calibri"/>
              </a:rPr>
              <a:t>— MIMIC averages 1,500 tokens/document. Our literals average </a:t>
            </a:r>
            <a:r>
              <a:rPr sz="900" b="1">
                <a:solidFill>
                  <a:srgbClr val="EEF0F5"/>
                </a:solidFill>
                <a:latin typeface="Calibri"/>
              </a:rPr>
              <a:t>2.2 words</a:t>
            </a:r>
            <a:r>
              <a:rPr sz="900" b="0">
                <a:solidFill>
                  <a:srgbClr val="9AA3B8"/>
                </a:solidFill>
                <a:latin typeface="Calibri"/>
              </a:rPr>
              <a:t>. Short-text favours traditional ML — TF-IDF excels; transformers are overkill here.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81728"/>
            <a:ext cx="11185855" cy="9144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3659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478"/>
                </a:solidFill>
                <a:latin typeface="Calibri"/>
              </a:rPr>
              <a:t>Dataset: CodiEsp-style, Spanish/Catalan clinical coding  ·  6,667 unlabeled test samples on leaderboard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4700016"/>
            <a:ext cx="1371600" cy="256032"/>
          </a:xfrm>
          <a:prstGeom prst="rect">
            <a:avLst/>
          </a:prstGeom>
          <a:solidFill>
            <a:srgbClr val="1E2535"/>
          </a:solidFill>
          <a:ln w="508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39912" y="4736592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478"/>
                </a:solidFill>
                <a:latin typeface="Calibri"/>
              </a:rPr>
              <a:t>Diagnosis (D): 80 %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02368" y="4700016"/>
            <a:ext cx="1371600" cy="256032"/>
          </a:xfrm>
          <a:prstGeom prst="rect">
            <a:avLst/>
          </a:prstGeom>
          <a:solidFill>
            <a:srgbClr val="1E2535"/>
          </a:solidFill>
          <a:ln w="508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875520" y="4736592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478"/>
                </a:solidFill>
                <a:latin typeface="Calibri"/>
              </a:rPr>
              <a:t>Procedure (P): 20 %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37976" y="4700016"/>
            <a:ext cx="1371600" cy="256032"/>
          </a:xfrm>
          <a:prstGeom prst="rect">
            <a:avLst/>
          </a:prstGeom>
          <a:solidFill>
            <a:srgbClr val="282216"/>
          </a:solidFill>
          <a:ln w="5080">
            <a:solidFill>
              <a:srgbClr val="5A4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1311128" y="4736592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4A96A"/>
                </a:solidFill>
                <a:latin typeface="Calibri"/>
              </a:rPr>
              <a:t>4,059 unique ICD codes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4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0">
                <a:solidFill>
                  <a:srgbClr val="EEF0F5"/>
                </a:solidFill>
                <a:latin typeface="Calibri"/>
              </a:rPr>
              <a:t>Proposed </a:t>
            </a:r>
            <a:r>
              <a:rPr sz="2200" b="1">
                <a:solidFill>
                  <a:srgbClr val="D4A96A"/>
                </a:solidFill>
                <a:latin typeface="Calibri"/>
              </a:rPr>
              <a:t>Solution</a:t>
            </a:r>
            <a:r>
              <a:rPr sz="2200" b="0">
                <a:solidFill>
                  <a:srgbClr val="EEF0F5"/>
                </a:solidFill>
                <a:latin typeface="Calibri"/>
              </a:rPr>
              <a:t>: Traditional ML Baselines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281160" y="164592"/>
            <a:ext cx="2377440" cy="246888"/>
          </a:xfrm>
          <a:prstGeom prst="rect">
            <a:avLst/>
          </a:prstGeom>
          <a:solidFill>
            <a:srgbClr val="282216"/>
          </a:solidFill>
          <a:ln w="6350">
            <a:solidFill>
              <a:srgbClr val="5A4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45168" y="192024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D4A96A"/>
                </a:solidFill>
                <a:latin typeface="Courier New"/>
              </a:rPr>
              <a:t>STAGE 2  ·  SURVEY §4.2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4754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478"/>
                </a:solidFill>
                <a:latin typeface="Courier New"/>
              </a:rPr>
              <a:t>02 /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5855" cy="9144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B6478"/>
                </a:solidFill>
                <a:latin typeface="Calibri"/>
              </a:rPr>
              <a:t>END-TO-END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9304"/>
            <a:ext cx="11183112" cy="548640"/>
          </a:xfrm>
          <a:prstGeom prst="rect">
            <a:avLst/>
          </a:prstGeom>
          <a:solidFill>
            <a:srgbClr val="1E2535"/>
          </a:solidFill>
          <a:ln w="635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1316736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4A96A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203545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EF0F5"/>
                </a:solidFill>
                <a:latin typeface="Calibri"/>
              </a:rPr>
              <a:t>Spanish /
Catalan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4950" y="1463040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8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0982" y="1316736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4A96A"/>
                </a:solidFill>
                <a:latin typeface="Courier New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0982" y="1481328"/>
            <a:ext cx="203545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EF0F5"/>
                </a:solidFill>
                <a:latin typeface="Calibri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1572" y="1463040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8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7604" y="1316736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4A96A"/>
                </a:solidFill>
                <a:latin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7604" y="1481328"/>
            <a:ext cx="203545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EF0F5"/>
                </a:solidFill>
                <a:latin typeface="Calibri"/>
              </a:rPr>
              <a:t>Feature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195" y="1463040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8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4227" y="1316736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4A96A"/>
                </a:solidFill>
                <a:latin typeface="Courier New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4227" y="1481328"/>
            <a:ext cx="203545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EF0F5"/>
                </a:solidFill>
                <a:latin typeface="Calibri"/>
              </a:rPr>
              <a:t>One-vs-Rest
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4817" y="1463040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8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0849" y="1316736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4A96A"/>
                </a:solidFill>
                <a:latin typeface="Courier New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0849" y="1481328"/>
            <a:ext cx="203545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EF0F5"/>
                </a:solidFill>
                <a:latin typeface="Calibri"/>
              </a:rPr>
              <a:t>ICD-10 Code(s)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938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B6478"/>
                </a:solidFill>
                <a:latin typeface="Calibri"/>
              </a:rPr>
              <a:t>THREE COMPARATIVE BASELINES — SURVEY §4.2 (TABLE 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176272"/>
            <a:ext cx="3566160" cy="1645920"/>
          </a:xfrm>
          <a:prstGeom prst="rect">
            <a:avLst/>
          </a:prstGeom>
          <a:solidFill>
            <a:srgbClr val="1E2535"/>
          </a:solidFill>
          <a:ln w="635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2286000"/>
            <a:ext cx="19613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B6478"/>
                </a:solidFill>
                <a:latin typeface="Calibri"/>
              </a:rPr>
              <a:t>PRIMARY 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249424"/>
            <a:ext cx="1188720" cy="210312"/>
          </a:xfrm>
          <a:prstGeom prst="rect">
            <a:avLst/>
          </a:prstGeom>
          <a:solidFill>
            <a:srgbClr val="282216"/>
          </a:solidFill>
          <a:ln w="6350">
            <a:solidFill>
              <a:srgbClr val="5A4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07208" y="2276856"/>
            <a:ext cx="1097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D4A96A"/>
                </a:solidFill>
                <a:latin typeface="Courier New"/>
              </a:rPr>
              <a:t>Perotte et al. [32]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5420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EF0F5"/>
                </a:solidFill>
                <a:latin typeface="Calibri"/>
              </a:rPr>
              <a:t>TF-IDF + FlatSVM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871215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AA3B8"/>
                </a:solidFill>
                <a:latin typeface="Calibri"/>
              </a:rPr>
              <a:t>Word-level TF-IDF features fed into a One-vs-Rest Linear SVM. Each ICD code is treated as an independent binary classification problem — the literature's gold standard for this task.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3964" y="2176272"/>
            <a:ext cx="3566160" cy="1645920"/>
          </a:xfrm>
          <a:prstGeom prst="rect">
            <a:avLst/>
          </a:prstGeom>
          <a:solidFill>
            <a:srgbClr val="1E2535"/>
          </a:solidFill>
          <a:ln w="635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21124" y="2286000"/>
            <a:ext cx="19613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B6478"/>
                </a:solidFill>
                <a:latin typeface="Calibri"/>
              </a:rPr>
              <a:t>SECONDARY 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24243" y="2249424"/>
            <a:ext cx="1188720" cy="210312"/>
          </a:xfrm>
          <a:prstGeom prst="rect">
            <a:avLst/>
          </a:prstGeom>
          <a:solidFill>
            <a:srgbClr val="282216"/>
          </a:solidFill>
          <a:ln w="6350">
            <a:solidFill>
              <a:srgbClr val="5A4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8251" y="2276856"/>
            <a:ext cx="1097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D4A96A"/>
                </a:solidFill>
                <a:latin typeface="Courier New"/>
              </a:rPr>
              <a:t>Marafino et al. [37]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1124" y="25420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EF0F5"/>
                </a:solidFill>
                <a:latin typeface="Calibri"/>
              </a:rPr>
              <a:t>Char N-gram + SVM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1124" y="2871215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AA3B8"/>
                </a:solidFill>
                <a:latin typeface="Calibri"/>
              </a:rPr>
              <a:t>Character-level n-grams (3–5 chars) as features. Naturally captures abbreviations (HTA, ITU) and handles Spanish/Catalan shared roots without a curated medical dictionary.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2176272"/>
            <a:ext cx="3566160" cy="1645920"/>
          </a:xfrm>
          <a:prstGeom prst="rect">
            <a:avLst/>
          </a:prstGeom>
          <a:solidFill>
            <a:srgbClr val="1E2535"/>
          </a:solidFill>
          <a:ln w="635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02168" y="2286000"/>
            <a:ext cx="19613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B6478"/>
                </a:solidFill>
                <a:latin typeface="Calibri"/>
              </a:rPr>
              <a:t>FAST BASELINE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05288" y="2249424"/>
            <a:ext cx="1188720" cy="210312"/>
          </a:xfrm>
          <a:prstGeom prst="rect">
            <a:avLst/>
          </a:prstGeom>
          <a:solidFill>
            <a:srgbClr val="282216"/>
          </a:solidFill>
          <a:ln w="6350">
            <a:solidFill>
              <a:srgbClr val="5A4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369296" y="2276856"/>
            <a:ext cx="1097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D4A96A"/>
                </a:solidFill>
                <a:latin typeface="Courier New"/>
              </a:rPr>
              <a:t>Elyne et al. [16]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25420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EF0F5"/>
                </a:solidFill>
                <a:latin typeface="Calibri"/>
              </a:rPr>
              <a:t>Bag-of-Words + Naive Bayes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2871215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AA3B8"/>
                </a:solidFill>
                <a:latin typeface="Calibri"/>
              </a:rPr>
              <a:t>BoW features with Complement Naive Bayes (suited for imbalanced data). Near-instant training — sets the performance floor against which SVM complexity can be justified.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93192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B6478"/>
                </a:solidFill>
                <a:latin typeface="Calibri"/>
              </a:rPr>
              <a:t>KNOWN LIMITATIONS &amp; MITIGATION PLAN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160520"/>
            <a:ext cx="5440680" cy="841248"/>
          </a:xfrm>
          <a:prstGeom prst="rect">
            <a:avLst/>
          </a:prstGeom>
          <a:solidFill>
            <a:srgbClr val="1E2535"/>
          </a:solidFill>
          <a:ln w="635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30936" y="4334256"/>
            <a:ext cx="118872" cy="118872"/>
          </a:xfrm>
          <a:prstGeom prst="rect">
            <a:avLst/>
          </a:prstGeom>
          <a:solidFill>
            <a:srgbClr val="D4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" y="42702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EF0F5"/>
                </a:solidFill>
                <a:latin typeface="Calibri"/>
              </a:rPr>
              <a:t>Computational Impracticality  (Survey §4.2)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" y="4544568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AA3B8"/>
                </a:solidFill>
                <a:latin typeface="Calibri"/>
              </a:rPr>
              <a:t>Training 4,059 individual SVM classifiers is prohibitive. Mitigation: filter to top-N most frequent codes for this baseline (sufficient positive examples per classifier), then scale progressively.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160520"/>
            <a:ext cx="5440680" cy="841248"/>
          </a:xfrm>
          <a:prstGeom prst="rect">
            <a:avLst/>
          </a:prstGeom>
          <a:solidFill>
            <a:srgbClr val="1E2535"/>
          </a:solidFill>
          <a:ln w="635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345936" y="4334256"/>
            <a:ext cx="118872" cy="118872"/>
          </a:xfrm>
          <a:prstGeom prst="rect">
            <a:avLst/>
          </a:prstGeom>
          <a:solidFill>
            <a:srgbClr val="D4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47104" y="42702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EF0F5"/>
                </a:solidFill>
                <a:latin typeface="Calibri"/>
              </a:rPr>
              <a:t>Code Dependency Ignored  (Survey §4.2)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47104" y="4544568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AA3B8"/>
                </a:solidFill>
                <a:latin typeface="Calibri"/>
              </a:rPr>
              <a:t>Flat One-vs-Rest SVMs ignore co-occurrence patterns between ICD codes. Future work: deep learning models will capture these dependencies — this is our planned next milestone after baselines are established.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102352"/>
            <a:ext cx="11185855" cy="9144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157216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B6478"/>
                </a:solidFill>
                <a:latin typeface="Calibri"/>
              </a:rPr>
              <a:t>Evaluation:   Micro-F1  (primary)   ·   Macro-F1  (secondary — exposes long-tail impact)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60" y="5120640"/>
            <a:ext cx="1371600" cy="256032"/>
          </a:xfrm>
          <a:prstGeom prst="rect">
            <a:avLst/>
          </a:prstGeom>
          <a:solidFill>
            <a:srgbClr val="1E2535"/>
          </a:solidFill>
          <a:ln w="508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439912" y="5157216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478"/>
                </a:solidFill>
                <a:latin typeface="Calibri"/>
              </a:rPr>
              <a:t>OneVsRest strategy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02368" y="5120640"/>
            <a:ext cx="1371600" cy="256032"/>
          </a:xfrm>
          <a:prstGeom prst="rect">
            <a:avLst/>
          </a:prstGeom>
          <a:solidFill>
            <a:srgbClr val="1E2535"/>
          </a:solidFill>
          <a:ln w="5080">
            <a:solidFill>
              <a:srgbClr val="2A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875520" y="5157216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B6478"/>
                </a:solidFill>
                <a:latin typeface="Calibri"/>
              </a:rPr>
              <a:t>Top-N label filtering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37976" y="5120640"/>
            <a:ext cx="1371600" cy="256032"/>
          </a:xfrm>
          <a:prstGeom prst="rect">
            <a:avLst/>
          </a:prstGeom>
          <a:solidFill>
            <a:srgbClr val="282216"/>
          </a:solidFill>
          <a:ln w="5080">
            <a:solidFill>
              <a:srgbClr val="5A4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1311128" y="5157216"/>
            <a:ext cx="1225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4A96A"/>
                </a:solidFill>
                <a:latin typeface="Calibri"/>
              </a:rPr>
              <a:t>Scikit-Learn impl.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